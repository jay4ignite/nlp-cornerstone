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743200"/>
            <a:ext cx="10360152" cy="1188720"/>
          </a:xfrm>
        </p:spPr>
        <p:txBody>
          <a:bodyPr/>
          <a:lstStyle/>
          <a:p>
            <a:pPr algn="ctr"/>
            <a:r>
              <a:rPr b="1" sz="4400">
                <a:solidFill>
                  <a:srgbClr val="2E4374"/>
                </a:solidFill>
                <a:latin typeface="Times New Roman"/>
              </a:rPr>
              <a:t>Student AI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023360"/>
            <a:ext cx="10360152" cy="2377440"/>
          </a:xfrm>
        </p:spPr>
        <p:txBody>
          <a:bodyPr wrap="square"/>
          <a:lstStyle/>
          <a:p>
            <a:pPr algn="ctr"/>
            <a:r>
              <a:rPr sz="2200">
                <a:solidFill>
                  <a:srgbClr val="000000"/>
                </a:solidFill>
                <a:latin typeface="Times New Roman"/>
              </a:rPr>
              <a:t>A Grounded College-Information Assistant using Intent Classification + RAG</a:t>
            </a:r>
          </a:p>
          <a:p>
            <a:pPr algn="ctr"/>
          </a:p>
          <a:p>
            <a:pPr algn="ctr"/>
            <a:r>
              <a:rPr b="1" sz="2000">
                <a:solidFill>
                  <a:srgbClr val="000000"/>
                </a:solidFill>
                <a:latin typeface="Times New Roman"/>
              </a:rPr>
              <a:t>Team Members:</a:t>
            </a:r>
          </a:p>
          <a:p>
            <a:pPr algn="ctr"/>
            <a:r>
              <a:rPr sz="1800">
                <a:solidFill>
                  <a:srgbClr val="000000"/>
                </a:solidFill>
                <a:latin typeface="Times New Roman"/>
              </a:rPr>
              <a:t>Name (Roll No)</a:t>
            </a:r>
          </a:p>
          <a:p>
            <a:pPr algn="ctr"/>
            <a:r>
              <a:rPr sz="1800">
                <a:solidFill>
                  <a:srgbClr val="000000"/>
                </a:solidFill>
                <a:latin typeface="Times New Roman"/>
              </a:rPr>
              <a:t>Name (Roll No)</a:t>
            </a:r>
          </a:p>
          <a:p>
            <a:pPr algn="ctr"/>
            <a:r>
              <a:rPr sz="1800">
                <a:solidFill>
                  <a:srgbClr val="000000"/>
                </a:solidFill>
                <a:latin typeface="Times New Roman"/>
              </a:rPr>
              <a:t>Name (Roll No)</a:t>
            </a:r>
          </a:p>
          <a:p>
            <a:pPr algn="ctr"/>
            <a:r>
              <a:rPr sz="1800">
                <a:solidFill>
                  <a:srgbClr val="000000"/>
                </a:solidFill>
                <a:latin typeface="Times New Roman"/>
              </a:rPr>
              <a:t>Name (Roll No)</a:t>
            </a:r>
          </a:p>
        </p:txBody>
      </p:sp>
      <p:pic>
        <p:nvPicPr>
          <p:cNvPr id="4" name="Picture 3" descr="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927" y="640080"/>
            <a:ext cx="3291840" cy="18245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23360" y="3794760"/>
            <a:ext cx="4142232" cy="381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8229600" cy="822960"/>
          </a:xfrm>
        </p:spPr>
        <p:txBody>
          <a:bodyPr/>
          <a:lstStyle/>
          <a:p>
            <a:pPr algn="l"/>
            <a:r>
              <a:rPr sz="3200" b="1">
                <a:solidFill>
                  <a:srgbClr val="2E4374"/>
                </a:solidFill>
                <a:latin typeface="Times New Roman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17320"/>
            <a:ext cx="10972800" cy="4937760"/>
          </a:xfrm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Introduction</a:t>
            </a:r>
          </a:p>
          <a:p>
            <a:pPr algn="l">
              <a:spcAft>
                <a:spcPts val="4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Problem Definition</a:t>
            </a:r>
          </a:p>
          <a:p>
            <a:pPr algn="l">
              <a:spcAft>
                <a:spcPts val="4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Proposed Solution</a:t>
            </a:r>
          </a:p>
          <a:p>
            <a:pPr algn="l">
              <a:spcAft>
                <a:spcPts val="4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Proposed Workflow</a:t>
            </a:r>
          </a:p>
          <a:p>
            <a:pPr algn="l">
              <a:spcAft>
                <a:spcPts val="4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Data Used</a:t>
            </a:r>
          </a:p>
          <a:p>
            <a:pPr algn="l">
              <a:spcAft>
                <a:spcPts val="4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Modules</a:t>
            </a:r>
          </a:p>
          <a:p>
            <a:pPr lvl="1" algn="l">
              <a:spcAft>
                <a:spcPts val="400"/>
              </a:spcAft>
            </a:pPr>
            <a:r>
              <a:rPr b="0" sz="1600">
                <a:solidFill>
                  <a:srgbClr val="000000"/>
                </a:solidFill>
                <a:latin typeface="Times New Roman"/>
              </a:rPr>
              <a:t>Text Preprocessing/Preprocessing</a:t>
            </a:r>
          </a:p>
          <a:p>
            <a:pPr lvl="1" algn="l">
              <a:spcAft>
                <a:spcPts val="400"/>
              </a:spcAft>
            </a:pPr>
            <a:r>
              <a:rPr b="0" sz="1600">
                <a:solidFill>
                  <a:srgbClr val="000000"/>
                </a:solidFill>
                <a:latin typeface="Times New Roman"/>
              </a:rPr>
              <a:t>Feature Extraction (Vector Representation)</a:t>
            </a:r>
          </a:p>
          <a:p>
            <a:pPr lvl="1" algn="l">
              <a:spcAft>
                <a:spcPts val="400"/>
              </a:spcAft>
            </a:pPr>
            <a:r>
              <a:rPr b="0" sz="1600">
                <a:solidFill>
                  <a:srgbClr val="000000"/>
                </a:solidFill>
                <a:latin typeface="Times New Roman"/>
              </a:rPr>
              <a:t>Python Implementation (NLTK concepts)</a:t>
            </a:r>
          </a:p>
          <a:p>
            <a:pPr algn="l">
              <a:spcAft>
                <a:spcPts val="4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NLP / ML Algorithm</a:t>
            </a:r>
          </a:p>
          <a:p>
            <a:pPr algn="l">
              <a:spcAft>
                <a:spcPts val="4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Output/ Result</a:t>
            </a:r>
          </a:p>
          <a:p>
            <a:pPr algn="l">
              <a:spcAft>
                <a:spcPts val="4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Conclusion and Future Scope</a:t>
            </a:r>
          </a:p>
        </p:txBody>
      </p:sp>
      <p:pic>
        <p:nvPicPr>
          <p:cNvPr id="4" name="Picture 3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4320"/>
            <a:ext cx="2880360" cy="3828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170432"/>
            <a:ext cx="11183112" cy="381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8229600" cy="822960"/>
          </a:xfrm>
        </p:spPr>
        <p:txBody>
          <a:bodyPr/>
          <a:lstStyle/>
          <a:p>
            <a:pPr algn="l"/>
            <a:r>
              <a:rPr sz="3200" b="1">
                <a:solidFill>
                  <a:srgbClr val="2E4374"/>
                </a:solidFill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17320"/>
            <a:ext cx="10972800" cy="493776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b="1" sz="1900">
                <a:solidFill>
                  <a:srgbClr val="000000"/>
                </a:solidFill>
                <a:latin typeface="Times New Roman"/>
              </a:rPr>
              <a:t>What is the project about?</a:t>
            </a:r>
            <a:r>
              <a:rPr b="0" sz="1900">
                <a:solidFill>
                  <a:srgbClr val="333333"/>
                </a:solidFill>
                <a:latin typeface="Times New Roman"/>
              </a:rPr>
              <a:t>: A conversational assistant that answers students' questions on curriculum, courses, credits, exams and campus administration.</a:t>
            </a:r>
          </a:p>
          <a:p>
            <a:pPr algn="l">
              <a:spcAft>
                <a:spcPts val="1000"/>
              </a:spcAft>
            </a:pPr>
            <a:r>
              <a:rPr b="1" sz="1900">
                <a:solidFill>
                  <a:srgbClr val="000000"/>
                </a:solidFill>
                <a:latin typeface="Times New Roman"/>
              </a:rPr>
              <a:t>What is the application/domain?</a:t>
            </a:r>
            <a:r>
              <a:rPr b="0" sz="1900">
                <a:solidFill>
                  <a:srgbClr val="333333"/>
                </a:solidFill>
                <a:latin typeface="Times New Roman"/>
              </a:rPr>
              <a:t>: Higher-education information access — an NLP + Retrieval-Augmented Generation (RAG) system over authoritative college documents.</a:t>
            </a:r>
          </a:p>
          <a:p>
            <a:pPr algn="l">
              <a:spcAft>
                <a:spcPts val="1000"/>
              </a:spcAft>
            </a:pPr>
            <a:r>
              <a:rPr b="1" sz="1900">
                <a:solidFill>
                  <a:srgbClr val="000000"/>
                </a:solidFill>
                <a:latin typeface="Times New Roman"/>
              </a:rPr>
              <a:t>Why is this topic important?</a:t>
            </a:r>
            <a:r>
              <a:rPr b="0" sz="1900">
                <a:solidFill>
                  <a:srgbClr val="333333"/>
                </a:solidFill>
                <a:latin typeface="Times New Roman"/>
              </a:rPr>
              <a:t>: Syllabi, calendars and regulations are fragmented across PDFs and pages; students cannot easily find or trust the answer.</a:t>
            </a:r>
          </a:p>
          <a:p>
            <a:pPr algn="l">
              <a:spcAft>
                <a:spcPts val="1000"/>
              </a:spcAft>
            </a:pPr>
            <a:r>
              <a:rPr b="1" sz="1900">
                <a:solidFill>
                  <a:srgbClr val="000000"/>
                </a:solidFill>
                <a:latin typeface="Times New Roman"/>
              </a:rPr>
              <a:t>What motivated the team to select this project?</a:t>
            </a:r>
            <a:r>
              <a:rPr b="0" sz="1900">
                <a:solidFill>
                  <a:srgbClr val="333333"/>
                </a:solidFill>
                <a:latin typeface="Times New Roman"/>
              </a:rPr>
              <a:t>: To give every student one reliable, source-cited interface that abstains instead of guessing — never fabricating a college fact.</a:t>
            </a:r>
          </a:p>
        </p:txBody>
      </p:sp>
      <p:pic>
        <p:nvPicPr>
          <p:cNvPr id="4" name="Picture 3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4320"/>
            <a:ext cx="2880360" cy="3828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170432"/>
            <a:ext cx="11183112" cy="381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8229600" cy="822960"/>
          </a:xfrm>
        </p:spPr>
        <p:txBody>
          <a:bodyPr/>
          <a:lstStyle/>
          <a:p>
            <a:pPr algn="l"/>
            <a:r>
              <a:rPr sz="3200" b="1">
                <a:solidFill>
                  <a:srgbClr val="2E4374"/>
                </a:solidFill>
                <a:latin typeface="Times New Roman"/>
              </a:rP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17320"/>
            <a:ext cx="10972800" cy="4937760"/>
          </a:xfrm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What is the existing problem?</a:t>
            </a:r>
            <a:r>
              <a:rPr b="0" sz="1800">
                <a:solidFill>
                  <a:srgbClr val="333333"/>
                </a:solidFill>
                <a:latin typeface="Times New Roman"/>
              </a:rPr>
              <a:t>: Campus information is scattered across curriculum PDFs, calendars, exam regulations and department pages.</a:t>
            </a:r>
          </a:p>
          <a:p>
            <a:pPr algn="l"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What difficulties are faced?</a:t>
            </a:r>
            <a:r>
              <a:rPr b="0" sz="1800">
                <a:solidFill>
                  <a:srgbClr val="333333"/>
                </a:solidFill>
                <a:latin typeface="Times New Roman"/>
              </a:rPr>
              <a:t>: Terminology varies ("sem 4" vs "semester 4"), keyword search is brittle, and generic chatbots hallucinate confident wrong answers.</a:t>
            </a:r>
          </a:p>
          <a:p>
            <a:pPr algn="l"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Why is the problem important?</a:t>
            </a:r>
            <a:r>
              <a:rPr b="0" sz="1800">
                <a:solidFill>
                  <a:srgbClr val="333333"/>
                </a:solidFill>
                <a:latin typeface="Times New Roman"/>
              </a:rPr>
              <a:t>: A wrong fact about credits, eligibility or exam rules directly misleads a student's academic decisions.</a:t>
            </a:r>
          </a:p>
          <a:p>
            <a:pPr algn="l"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Who is affected by the problem?</a:t>
            </a:r>
            <a:r>
              <a:rPr b="0" sz="1800">
                <a:solidFill>
                  <a:srgbClr val="333333"/>
                </a:solidFill>
                <a:latin typeface="Times New Roman"/>
              </a:rPr>
              <a:t>: Students primarily, plus faculty and office staff who field the same repeated queries.</a:t>
            </a:r>
          </a:p>
          <a:p>
            <a:pPr algn="l"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What needs to be improved?</a:t>
            </a:r>
            <a:r>
              <a:rPr b="0" sz="1800">
                <a:solidFill>
                  <a:srgbClr val="333333"/>
                </a:solidFill>
                <a:latin typeface="Times New Roman"/>
              </a:rPr>
              <a:t>: Accurate, source-cited answers with a reliable "I don't know" when evidence is missing — traceability over fluency.</a:t>
            </a:r>
          </a:p>
        </p:txBody>
      </p:sp>
      <p:pic>
        <p:nvPicPr>
          <p:cNvPr id="4" name="Picture 3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4320"/>
            <a:ext cx="2880360" cy="3828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170432"/>
            <a:ext cx="11183112" cy="381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8229600" cy="822960"/>
          </a:xfrm>
        </p:spPr>
        <p:txBody>
          <a:bodyPr/>
          <a:lstStyle/>
          <a:p>
            <a:pPr algn="l"/>
            <a:r>
              <a:rPr sz="3200" b="1">
                <a:solidFill>
                  <a:srgbClr val="2E4374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17320"/>
            <a:ext cx="10972800" cy="4937760"/>
          </a:xfrm>
        </p:spPr>
        <p:txBody>
          <a:bodyPr wrap="square"/>
          <a:lstStyle/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Major functions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Intent classification → hybrid retrieval → grounded generation → citation validation → abstention.</a:t>
            </a:r>
          </a:p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Input → Processing → Output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Input: a free-text question. Processing: normalize → classify (24 intents) → retrieve evidence (BM25 + dense, fused) → answer only from retrieved chunks. Output: answer + citations + intent/confidence + trace ID, or a safe abstention.</a:t>
            </a:r>
          </a:p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Expected users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College students; secondarily faculty and office staff.</a:t>
            </a:r>
          </a:p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Expected benefits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Fast, consistent, source-backed answers; zero fabricated facts; auditable responses.</a:t>
            </a:r>
          </a:p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Proposed methodology/workflow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Abstention-first, evidence-grounded RAG with defense-in-depth safety gates (approval/currency filter, private-record gate, relevance gate, citation validation).</a:t>
            </a:r>
          </a:p>
        </p:txBody>
      </p:sp>
      <p:pic>
        <p:nvPicPr>
          <p:cNvPr id="4" name="Picture 3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4320"/>
            <a:ext cx="2880360" cy="3828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170432"/>
            <a:ext cx="11183112" cy="381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8229600" cy="822960"/>
          </a:xfrm>
        </p:spPr>
        <p:txBody>
          <a:bodyPr/>
          <a:lstStyle/>
          <a:p>
            <a:pPr algn="l"/>
            <a:r>
              <a:rPr sz="3200" b="1">
                <a:solidFill>
                  <a:srgbClr val="2E4374"/>
                </a:solidFill>
                <a:latin typeface="Times New Roman"/>
              </a:rPr>
              <a:t>Data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17320"/>
            <a:ext cx="10972800" cy="4937760"/>
          </a:xfrm>
        </p:spPr>
        <p:txBody>
          <a:bodyPr wrap="square"/>
          <a:lstStyle/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Source of data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CampusFAQ-50K v1.0 — project-owned dataset built from approved institutional document templates (syllabi, regulations, calendar, exam rules, department &amp; office pages). Content is synthetic DEMO_ONLY.</a:t>
            </a:r>
          </a:p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Type of data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Labeled question–answer pairs, each with an intent, supporting evidence chunk and provenance.</a:t>
            </a:r>
          </a:p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Number of records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50,000 total  →  Train 40,000 | Validation 5,000 | Test 5,000; 24 intents balanced (~2,083 each).</a:t>
            </a:r>
          </a:p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Important attributes/columns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query, intent, response, document_id, evidence[quote, location], entities, answerable, difficulty, split.</a:t>
            </a:r>
          </a:p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Data format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JSONL + CSV with SHA-256 checksums and a versioned dataset manifest.</a:t>
            </a:r>
          </a:p>
        </p:txBody>
      </p:sp>
      <p:pic>
        <p:nvPicPr>
          <p:cNvPr id="4" name="Picture 3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4320"/>
            <a:ext cx="2880360" cy="3828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170432"/>
            <a:ext cx="11183112" cy="381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8229600" cy="822960"/>
          </a:xfrm>
        </p:spPr>
        <p:txBody>
          <a:bodyPr/>
          <a:lstStyle/>
          <a:p>
            <a:pPr algn="l"/>
            <a:r>
              <a:rPr sz="3200" b="1">
                <a:solidFill>
                  <a:srgbClr val="2E4374"/>
                </a:solidFill>
                <a:latin typeface="Times New Roman"/>
              </a:rP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17320"/>
            <a:ext cx="10972800" cy="4937760"/>
          </a:xfrm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Text Preprocessing/Preprocessing</a:t>
            </a:r>
          </a:p>
          <a:p>
            <a:pPr lvl="1" algn="l">
              <a:spcAft>
                <a:spcPts val="800"/>
              </a:spcAft>
            </a:pPr>
            <a:r>
              <a:rPr b="0" sz="1600">
                <a:solidFill>
                  <a:srgbClr val="000000"/>
                </a:solidFill>
                <a:latin typeface="Times New Roman"/>
              </a:rPr>
              <a:t>Unicode NFKC normalization, whitespace &amp; punctuation cleanup, control-char removal; domain terms like "CSE101" and "sem 4" preserved (no aggressive stemming).</a:t>
            </a:r>
          </a:p>
          <a:p>
            <a:pPr algn="l"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Feature Extraction (Vector Representation)</a:t>
            </a:r>
          </a:p>
          <a:p>
            <a:pPr lvl="1" algn="l">
              <a:spcAft>
                <a:spcPts val="800"/>
              </a:spcAft>
            </a:pPr>
            <a:r>
              <a:rPr b="0" sz="1600">
                <a:solidFill>
                  <a:srgbClr val="000000"/>
                </a:solidFill>
                <a:latin typeface="Times New Roman"/>
              </a:rPr>
              <a:t>Lexical: TF-IDF (word 1–2 grams + char 3–5 grams). Dense: sentence-transformers all-MiniLM-L6-v2 (384-dim), with a deterministic hash-embedding fallback.</a:t>
            </a:r>
          </a:p>
          <a:p>
            <a:pPr algn="l"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Python Implementation (NLTK concepts)</a:t>
            </a:r>
          </a:p>
          <a:p>
            <a:pPr lvl="1" algn="l">
              <a:spcAft>
                <a:spcPts val="800"/>
              </a:spcAft>
            </a:pPr>
            <a:r>
              <a:rPr b="0" sz="1600">
                <a:solidFill>
                  <a:srgbClr val="000000"/>
                </a:solidFill>
                <a:latin typeface="Times New Roman"/>
              </a:rPr>
              <a:t>NLTK-style tokenization/normalization + scikit-learn TF-IDF &amp; classifiers; NumPy vector index and self-contained BM25; FastAPI backend + React/Vite UI; offline, seed = 42.</a:t>
            </a:r>
          </a:p>
        </p:txBody>
      </p:sp>
      <p:pic>
        <p:nvPicPr>
          <p:cNvPr id="4" name="Picture 3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4320"/>
            <a:ext cx="2880360" cy="3828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170432"/>
            <a:ext cx="11183112" cy="381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8229600" cy="822960"/>
          </a:xfrm>
        </p:spPr>
        <p:txBody>
          <a:bodyPr/>
          <a:lstStyle/>
          <a:p>
            <a:pPr algn="l"/>
            <a:r>
              <a:rPr sz="3200" b="1">
                <a:solidFill>
                  <a:srgbClr val="2E4374"/>
                </a:solidFill>
                <a:latin typeface="Times New Roman"/>
              </a:rPr>
              <a:t>NLP / ML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17320"/>
            <a:ext cx="10972800" cy="4937760"/>
          </a:xfrm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Logistic Regression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Trained on TF-IDF features — the selected MVP intent classifier (calibrated probabilities for confidence thresholds).</a:t>
            </a:r>
          </a:p>
          <a:p>
            <a:pPr algn="l">
              <a:spcAft>
                <a:spcPts val="6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Support Vector Machine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Linear SVM on TF-IDF — strong linear baseline for the 24-intent task.</a:t>
            </a:r>
          </a:p>
          <a:p>
            <a:pPr algn="l">
              <a:spcAft>
                <a:spcPts val="6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N-gram Language Model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Word 1–2 grams and character 3–5 grams supply the lexical signal for classification and BM25 retrieval.</a:t>
            </a:r>
          </a:p>
          <a:p>
            <a:pPr algn="l">
              <a:spcAft>
                <a:spcPts val="6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TF-IDF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Primary sparse vectorizer (min_df=2, max_df=0.9, sublinear_tf) for all classical models.</a:t>
            </a:r>
          </a:p>
          <a:p>
            <a:pPr algn="l">
              <a:spcAft>
                <a:spcPts val="6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Word2Vec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Dense semantic embeddings (realized via MiniLM sentence embeddings) power the vector side of hybrid retrieval.</a:t>
            </a:r>
          </a:p>
        </p:txBody>
      </p:sp>
      <p:pic>
        <p:nvPicPr>
          <p:cNvPr id="4" name="Picture 3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4320"/>
            <a:ext cx="2880360" cy="3828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170432"/>
            <a:ext cx="11183112" cy="381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8229600" cy="822960"/>
          </a:xfrm>
        </p:spPr>
        <p:txBody>
          <a:bodyPr/>
          <a:lstStyle/>
          <a:p>
            <a:pPr algn="l"/>
            <a:r>
              <a:rPr sz="3200" b="1">
                <a:solidFill>
                  <a:srgbClr val="2E4374"/>
                </a:solidFill>
                <a:latin typeface="Times New Roman"/>
              </a:rPr>
              <a:t>NLP / ML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17320"/>
            <a:ext cx="10972800" cy="4937760"/>
          </a:xfrm>
        </p:spPr>
        <p:txBody>
          <a:bodyPr wrap="square"/>
          <a:lstStyle/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Models compared (intent classification, 24 classes)</a:t>
            </a:r>
          </a:p>
          <a:p>
            <a:pPr lvl="1" algn="l">
              <a:spcAft>
                <a:spcPts val="5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Logistic Regression + word TF-IDF</a:t>
            </a:r>
          </a:p>
          <a:p>
            <a:pPr lvl="1" algn="l">
              <a:spcAft>
                <a:spcPts val="5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Linear SVM + word TF-IDF</a:t>
            </a:r>
          </a:p>
          <a:p>
            <a:pPr lvl="1" algn="l">
              <a:spcAft>
                <a:spcPts val="5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Multinomial Naïve Bayes + word TF-IDF</a:t>
            </a:r>
          </a:p>
          <a:p>
            <a:pPr lvl="1" algn="l">
              <a:spcAft>
                <a:spcPts val="5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Hybrid TF-IDF (word + char n-grams) + Logistic Regression</a:t>
            </a:r>
          </a:p>
          <a:p>
            <a:pPr lvl="1" algn="l">
              <a:spcAft>
                <a:spcPts val="5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DistilBERT transformer — optional upgrade, skipped in the offline MVP to stay lightweight</a:t>
            </a:r>
          </a:p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Retrieval algorithm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BM25 (lexical) + dense cosine fused via Reciprocal Rank Fusion → top-5 evidence.</a:t>
            </a:r>
          </a:p>
          <a:p>
            <a:pPr algn="l">
              <a:spcAft>
                <a:spcPts val="5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Selected model</a:t>
            </a:r>
            <a:r>
              <a:rPr b="0" sz="1700">
                <a:solidFill>
                  <a:srgbClr val="333333"/>
                </a:solidFill>
                <a:latin typeface="Times New Roman"/>
              </a:rPr>
              <a:t>: Logistic Regression — reaches the performance ceiling and gives calibrated predict_proba for robust confidence thresholds.</a:t>
            </a:r>
          </a:p>
        </p:txBody>
      </p:sp>
      <p:pic>
        <p:nvPicPr>
          <p:cNvPr id="4" name="Picture 3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4320"/>
            <a:ext cx="2880360" cy="3828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170432"/>
            <a:ext cx="11183112" cy="381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8229600" cy="822960"/>
          </a:xfrm>
        </p:spPr>
        <p:txBody>
          <a:bodyPr/>
          <a:lstStyle/>
          <a:p>
            <a:pPr algn="l"/>
            <a:r>
              <a:rPr sz="3200" b="1">
                <a:solidFill>
                  <a:srgbClr val="2E4374"/>
                </a:solidFill>
                <a:latin typeface="Times New Roman"/>
              </a:rPr>
              <a:t>Output / Result</a:t>
            </a:r>
          </a:p>
        </p:txBody>
      </p:sp>
      <p:pic>
        <p:nvPicPr>
          <p:cNvPr id="3" name="Picture 2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4320"/>
            <a:ext cx="2880360" cy="3828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170432"/>
            <a:ext cx="11183112" cy="381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4374"/>
                </a:solidFill>
                <a:latin typeface="Times New Roman"/>
              </a:rPr>
              <a:t>Intent classification — 24 classes, held-out test set (trained scikit-learn models)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3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2594"/>
                <a:gridCol w="1235327"/>
                <a:gridCol w="1235327"/>
                <a:gridCol w="1342747"/>
                <a:gridCol w="1235327"/>
                <a:gridCol w="1074198"/>
                <a:gridCol w="1718716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4374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4374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4374"/>
                          </a:solidFill>
                          <a:latin typeface="Times New Roman"/>
                        </a:rP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4374"/>
                          </a:solidFill>
                          <a:latin typeface="Times New Roman"/>
                        </a:rPr>
                        <a:t>Weighted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4374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4374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4374"/>
                          </a:solidFill>
                          <a:latin typeface="Times New Roman"/>
                        </a:rPr>
                        <a:t>Latency (ms/query)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Logistic Regression (MVP)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0.006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Linear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0.011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Multinomial 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0.011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Hybrid TF-IDF + 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0.128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5204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333333"/>
                </a:solidFill>
                <a:latin typeface="Times New Roman"/>
              </a:rPr>
              <a:t>Trained models reach the ceiling because CampusFAQ-50K's synthetic classes are cleanly separable (LogReg train time 1.79 s). Deployed offline demo — zero-training lexical fallback, no model loaded — scores accuracy 0.6725 / macro-F1 0.6616 on 1,200 held-out 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RAG safety: out-of-scope hallucination 0.00 · OOS abstention 1.00 · citation violations 0 · mean grounding 1.00.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In-scope answer rate 0.7035 (809 / 1,150 answered) · every out-of-scope query silenced (50 / 50).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Quality gates: 146 / 146 unit + integration + adversarial tests passed · 11 / 11 behavioural regression.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8229600" cy="822960"/>
          </a:xfrm>
        </p:spPr>
        <p:txBody>
          <a:bodyPr/>
          <a:lstStyle/>
          <a:p>
            <a:pPr algn="l"/>
            <a:r>
              <a:rPr sz="3200" b="1">
                <a:solidFill>
                  <a:srgbClr val="2E4374"/>
                </a:solidFill>
                <a:latin typeface="Times New Roman"/>
              </a:rPr>
              <a:t>Output / Result — Analytics</a:t>
            </a:r>
          </a:p>
        </p:txBody>
      </p:sp>
      <p:pic>
        <p:nvPicPr>
          <p:cNvPr id="3" name="Picture 2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4320"/>
            <a:ext cx="2880360" cy="3828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170432"/>
            <a:ext cx="11183112" cy="381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4374"/>
                </a:solidFill>
                <a:latin typeface="Times New Roman"/>
              </a:rPr>
              <a:t>Retrieval quality  (in-scope 1,144 queries)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539495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514"/>
                <a:gridCol w="2055222"/>
                <a:gridCol w="2055222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4374"/>
                          </a:solidFill>
                          <a:latin typeface="Times New Roman"/>
                        </a:rP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4374"/>
                          </a:solidFill>
                          <a:latin typeface="Times New Roman"/>
                        </a:rPr>
                        <a:t>Recall@k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4374"/>
                          </a:solidFill>
                          <a:latin typeface="Times New Roman"/>
                        </a:rPr>
                        <a:t>Hit@k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0.549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0.779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0.859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/>
              </a:rPr>
              <a:t>MRR 0.6699 · nDCG@5 0.5774 · OOS silence rate 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4374"/>
                </a:solidFill>
                <a:latin typeface="Times New Roman"/>
              </a:rPr>
              <a:t>Latency  (ms · 10 queries × 5 reps)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600200"/>
          <a:ext cx="530351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199"/>
                <a:gridCol w="957580"/>
                <a:gridCol w="957580"/>
                <a:gridCol w="957580"/>
                <a:gridCol w="95758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4374"/>
                          </a:solidFill>
                          <a:latin typeface="Times New Roman"/>
                        </a:rP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4374"/>
                          </a:solidFill>
                          <a:latin typeface="Times New Roman"/>
                        </a:rP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4374"/>
                          </a:solidFill>
                          <a:latin typeface="Times New Roman"/>
                        </a:rPr>
                        <a:t>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4374"/>
                          </a:solidFill>
                          <a:latin typeface="Times New Roman"/>
                        </a:rPr>
                        <a:t>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4374"/>
                          </a:solidFill>
                          <a:latin typeface="Times New Roman"/>
                        </a:rPr>
                        <a:t>Max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0.15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10.28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12.57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12.57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End-to-end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8.79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10.63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11.31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11.31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3246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Times New Roman"/>
              </a:rPr>
              <a:t>Offline, extractive provider; retrieval dominates end-to-end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4374"/>
                </a:solidFill>
                <a:latin typeface="Times New Roman"/>
              </a:rPr>
              <a:t>End-to-end RAG evaluation  (1,200 rows)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In-scope 1,150 → 809 answered / 341 abstained (answer rate 0.7035); mean grounding 1.00.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Out-of-scope 50 → 0 answered / 50 abstained: hallucination rate 0.00, citation-integrity violations 0.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Dataset: 50,000 records (train 40k / val 5k / test 5k), 24 balanced intents; answerable 47,917 / 2,083.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Reproducible: seed 42, fully offline, SHA-256-checksummed dataset manifest.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84048"/>
            <a:ext cx="8229600" cy="822960"/>
          </a:xfrm>
        </p:spPr>
        <p:txBody>
          <a:bodyPr/>
          <a:lstStyle/>
          <a:p>
            <a:pPr algn="l"/>
            <a:r>
              <a:rPr sz="3200" b="1">
                <a:solidFill>
                  <a:srgbClr val="2E4374"/>
                </a:solidFill>
                <a:latin typeface="Times New Roman"/>
              </a:rPr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17320"/>
            <a:ext cx="10972800" cy="4937760"/>
          </a:xfrm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Conclusion</a:t>
            </a:r>
          </a:p>
          <a:p>
            <a:pPr lvl="1" algn="l">
              <a:spcAft>
                <a:spcPts val="6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Delivered a runnable, tested, offline prototype: intent → hybrid retrieval → grounded generation → citation validation → abstention.</a:t>
            </a:r>
          </a:p>
          <a:p>
            <a:pPr lvl="1" algn="l">
              <a:spcAft>
                <a:spcPts val="6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Primary goal met — zero out-of-scope fabrication (hallucination 0.00, abstention 1.00) with valid citations and reproducible results (seed 42).</a:t>
            </a:r>
          </a:p>
          <a:p>
            <a:pPr lvl="1" algn="l">
              <a:spcAft>
                <a:spcPts val="6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Classical TF-IDF + Logistic Regression is an accurate, fast, interpretable MVP classifier.</a:t>
            </a:r>
          </a:p>
          <a:p>
            <a:pPr algn="l">
              <a:spcAft>
                <a:spcPts val="600"/>
              </a:spcAft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Future Scope</a:t>
            </a:r>
          </a:p>
          <a:p>
            <a:pPr lvl="1" algn="l">
              <a:spcAft>
                <a:spcPts val="6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Fine-tune DistilBERT and enable MiniLM dense embeddings for better semantic generalization.</a:t>
            </a:r>
          </a:p>
          <a:p>
            <a:pPr lvl="1" algn="l">
              <a:spcAft>
                <a:spcPts val="6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Ground on real approved institutional sources; add PostgreSQL + pgvector at scale.</a:t>
            </a:r>
          </a:p>
          <a:p>
            <a:pPr lvl="1" algn="l">
              <a:spcAft>
                <a:spcPts val="6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Enable a live LLM provider (Gemini / Claude) behind the same evidence-only contract.</a:t>
            </a:r>
          </a:p>
          <a:p>
            <a:pPr lvl="1" algn="l">
              <a:spcAft>
                <a:spcPts val="6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Add multilingual support, a reranker and human-in-the-loop evaluation before release.</a:t>
            </a:r>
          </a:p>
        </p:txBody>
      </p:sp>
      <p:pic>
        <p:nvPicPr>
          <p:cNvPr id="4" name="Picture 3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4320"/>
            <a:ext cx="2880360" cy="3828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170432"/>
            <a:ext cx="11183112" cy="381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